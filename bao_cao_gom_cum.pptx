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34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770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502920"/>
            <a:ext cx="25603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ĐỒ ÁN TỐT NGHIỆP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 CỤM VĂN BẢN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tiến độ nghiên cứu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3108960"/>
            <a:ext cx="4572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918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8.727 bài báo tiếng Việt  |  6 chuyên mục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6576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BM25 / Semantic Embedding + K-Means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4023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PyVi · SentenceTransformers · UMAP · FP-Max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4748B"/>
                </a:solidFill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DỰ ÁN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THỰC HIỆN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594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NB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</a:rPr>
              <a:t>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Làm sạch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Gộp, lọc trùng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bài quá ngắn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92224" y="246888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2808" y="8686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92808" y="868680"/>
            <a:ext cx="15544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4248" y="1051560"/>
            <a:ext cx="594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NB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92808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28090"/>
                </a:solidFill>
              </a:rPr>
              <a:t>②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938528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38528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từ PyVi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87168" y="37947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87168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56432" y="246888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57016" y="8686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57016" y="868680"/>
            <a:ext cx="1554480" cy="10972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8456" y="1051560"/>
            <a:ext cx="594360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NB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57016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3558"/>
                </a:solidFill>
              </a:rPr>
              <a:t>③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602736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02736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BM25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TruncatedSVD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51376" y="37947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1376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20640" y="246888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21224" y="8686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21224" y="868680"/>
            <a:ext cx="1554480" cy="10972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12664" y="1051560"/>
            <a:ext cx="594360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12664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NB 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21224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3558"/>
                </a:solidFill>
              </a:rPr>
              <a:t>④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266944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66944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+ K-Means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15584" y="37947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15584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784848" y="2468880"/>
            <a:ext cx="12801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85432" y="86868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85432" y="868680"/>
            <a:ext cx="1554480" cy="10972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76872" y="1051560"/>
            <a:ext cx="594360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76872" y="105156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NB 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85432" y="13716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3558"/>
                </a:solidFill>
              </a:rPr>
              <a:t>⑤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931152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Kiểm định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31152" y="297180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FP-Max, Wilcoxon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79792" y="3794760"/>
            <a:ext cx="365760" cy="3657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79792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5 notebook đã hoàn thành  •  Dữ liệu: 8.727 bài báo  •  6 chuyên mục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TIỀN XỬ LÝ VĂN BẢN (NB1 – NB2)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DỮ LIỆU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931920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bài báo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1371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8.727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64792"/>
            <a:ext cx="3931920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64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chuyên mục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17647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157984"/>
            <a:ext cx="3931920" cy="347472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579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lịch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1579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55117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511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dục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25511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1.941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3931920" cy="347472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44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khỏe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29443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thao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3337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3931920" cy="347472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30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71800" y="37307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2394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123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71800" y="412394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26280" y="868680"/>
            <a:ext cx="43891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868680"/>
            <a:ext cx="4389120" cy="41148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8686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 TIỀN XỬ LÝ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142646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02352" y="138988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Ghép title + description + content → cluster_text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37176" y="1773936"/>
            <a:ext cx="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663440" y="209397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Unicode, xóa HTML/URL, lowercase → cluster_text_clean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837176" y="2441448"/>
            <a:ext cx="0" cy="27432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663440" y="2761488"/>
            <a:ext cx="347472" cy="347472"/>
          </a:xfrm>
          <a:prstGeom prst="ellipse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761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27249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từ PyVi (Word Segmentation) → cluster_text_segmented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37176" y="3108960"/>
            <a:ext cx="0" cy="274320"/>
          </a:xfrm>
          <a:prstGeom prst="line">
            <a:avLst/>
          </a:prstGeom>
          <a:noFill/>
          <a:ln w="12700">
            <a:solidFill>
              <a:srgbClr val="1A3558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663440" y="3429000"/>
            <a:ext cx="347472" cy="347472"/>
          </a:xfrm>
          <a:prstGeom prst="ellipse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02352" y="339242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stopwords tùy chỉnh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corpus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837176" y="3776472"/>
            <a:ext cx="0" cy="274320"/>
          </a:xfrm>
          <a:prstGeom prst="line">
            <a:avLst/>
          </a:prstGeom>
          <a:noFill/>
          <a:ln w="12700">
            <a:solidFill>
              <a:srgbClr val="1A3558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663440" y="4096512"/>
            <a:ext cx="347472" cy="347472"/>
          </a:xfrm>
          <a:prstGeom prst="ellipse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02352" y="405993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stopwords → cluster_text_lexical (dùng cho TF-IDF/BM25)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26280" y="4663440"/>
            <a:ext cx="4389120" cy="347472"/>
          </a:xfrm>
          <a:prstGeom prst="rect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46634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Kết quả: làn_sóng, máy_tính, lượng_tử, chứng_khoán → token ghép hoàn chỉnh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LEXICAL – TF-IDF &amp; BM25 + K-MEANS (NB3)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4630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cluster_text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_lexical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37360" y="114300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822960"/>
            <a:ext cx="1463040" cy="64008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822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TF-IDF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+BM25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14300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822960"/>
            <a:ext cx="1463040" cy="64008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822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TruncatedSVD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(300D)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14300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822960"/>
            <a:ext cx="1463040" cy="64008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822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K-Means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k=6,8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9440" y="1143000"/>
            <a:ext cx="2743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822960"/>
            <a:ext cx="14630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Đánh giá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NMI/ARI/...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1645920"/>
            <a:ext cx="86868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645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Phương pháp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31720" y="16459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88036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Silhouette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6908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ARI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7492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NMI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Purity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86600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DB Index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28600" y="2029968"/>
            <a:ext cx="8686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029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SVD(300)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331720" y="20299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80360" y="20299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0.0248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69080" y="20299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0.4711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20299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0.5370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80760" y="20299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086600" y="2029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4.5312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8600" y="2395728"/>
            <a:ext cx="86868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SVD(300)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31720" y="23957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880360" y="239572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0.0222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069080" y="2395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0.4488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74920" y="2395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0.5279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080760" y="23957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0.7200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086600" y="2395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4.8211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28600" y="2761488"/>
            <a:ext cx="8686800" cy="365760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7614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SVD(300)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331720" y="27614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80360" y="27614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069080" y="27614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0.5315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74920" y="27614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0.5862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80760" y="27614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0.7629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086600" y="2761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4.3216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28600" y="3127248"/>
            <a:ext cx="86868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31272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SVD(300)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331720" y="3127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880360" y="31272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0.0216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069080" y="3127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0.4783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74920" y="3127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0.5521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080760" y="3127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0.7332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08660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4.5891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228600" y="3520440"/>
            <a:ext cx="1828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★  Best Lexical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1488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558"/>
                </a:solidFill>
              </a:rPr>
              <a:t>BM25 + SVD(300) + K-Means (k=6)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0040" y="3950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558"/>
                </a:solidFill>
              </a:rPr>
              <a:t>Nhận xét: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74320" y="43708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rất thấp (0.027)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617720" y="43708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73752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Index &gt; 4.0 → cụm chồng lấn nhiều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74320" y="47365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0352" y="4663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= 0.53 / NMI = 0.59 → khớp vừa phải với ground truth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617720" y="47365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73752" y="4663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nhỉnh hơn TF-IDF trên mọi chỉ số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NHÁNH SEMANTIC – SENTENCE EMBEDDING + UMAP + K-MEANS (NB4)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hình: paraphrase-multilingual-MiniLM-L12-v2  →  UMAP(50D)  →  K-Means(k=6)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k: Silhouette Score theo số cụm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542032"/>
            <a:ext cx="338328" cy="1069848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2609959"/>
            <a:ext cx="338328" cy="1001921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60704" y="2626941"/>
            <a:ext cx="338328" cy="984939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53896" y="2575995"/>
            <a:ext cx="338328" cy="1035885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3896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47088" y="2592977"/>
            <a:ext cx="338328" cy="101890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47088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01368" y="2318657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k=6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2643922"/>
            <a:ext cx="338328" cy="967958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33472" y="2711849"/>
            <a:ext cx="338328" cy="900031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26664" y="2745813"/>
            <a:ext cx="338328" cy="866067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6664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19856" y="2762794"/>
            <a:ext cx="338328" cy="849086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13048" y="2796758"/>
            <a:ext cx="338328" cy="815122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13048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06240" y="2830721"/>
            <a:ext cx="338328" cy="781159"/>
          </a:xfrm>
          <a:prstGeom prst="rect">
            <a:avLst/>
          </a:prstGeom>
          <a:solidFill>
            <a:srgbClr val="14B8A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3630168"/>
            <a:ext cx="338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12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4325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63016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0" y="1353312"/>
            <a:ext cx="3886200" cy="38404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3533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Kết quả k = 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0" y="1737360"/>
            <a:ext cx="3886200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1737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Silhouette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0" y="17373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0.6049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173736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29200" y="2093976"/>
            <a:ext cx="3886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20939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ARI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20939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0.7693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21040" y="209397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029200" y="2450592"/>
            <a:ext cx="3886200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450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NMI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49440" y="2450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0.7247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1040" y="24505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029200" y="2807208"/>
            <a:ext cx="3886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28072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Purity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28072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0.8918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321040" y="280720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29200" y="3163824"/>
            <a:ext cx="3886200" cy="347472"/>
          </a:xfrm>
          <a:prstGeom prst="rect">
            <a:avLst/>
          </a:prstGeom>
          <a:solidFill>
            <a:srgbClr val="E0F7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Davies-Bouldin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49440" y="3163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0.5549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 rot="10800000">
            <a:off x="8321040" y="31638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5029200" y="3520440"/>
            <a:ext cx="3886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Calinski-Harabasz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949440" y="3520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28,421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321040" y="35204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</a:rPr>
              <a:t>↑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228600" y="3977640"/>
            <a:ext cx="8686800" cy="32004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Gán nhãn cụm (sau phân tích bảng chéo)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7432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58"/>
                </a:solidFill>
              </a:rPr>
              <a:t>Cụm 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432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73736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73736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Cụm 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73736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 thao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20040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Cụm 2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20040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lịch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66344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Cụm 3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66344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Sức khỏe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2648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Cụm 4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12648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589520" y="4370832"/>
            <a:ext cx="13258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A35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89520" y="43708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558"/>
                </a:solidFill>
              </a:rPr>
              <a:t>Cụm 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589520" y="46451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dục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LEXICAL vs SEMANTIC (k=6)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384048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04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Chỉ số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71800" y="804672"/>
            <a:ext cx="1645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804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BM25+SVD (Lexical)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804672"/>
            <a:ext cx="1645920" cy="384048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804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Semantic+UMAP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804672"/>
            <a:ext cx="14630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04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Cải thiện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26680" y="804672"/>
            <a:ext cx="1463040" cy="384048"/>
          </a:xfrm>
          <a:prstGeom prst="rect">
            <a:avLst/>
          </a:prstGeom>
          <a:solidFill>
            <a:srgbClr val="1A35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804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Ý nghĩa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1188720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887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71800" y="118872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188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0.0269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118872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88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0.6049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188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+22.5×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26680" y="1188720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1188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1572768"/>
            <a:ext cx="274320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5727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↑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71800" y="1572768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1572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1572768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5727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0.7693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572768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1572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+44.7%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26680" y="1572768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15727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8600" y="195681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195681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NMI ↑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71800" y="195681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19568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0.5862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17720" y="195681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9568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0.7247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63640" y="19568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956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+23.6%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726680" y="1956816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19568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28600" y="2340864"/>
            <a:ext cx="274320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3408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Purity ↑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971800" y="2340864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3408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0.7629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617720" y="2340864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234086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0.8918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63640" y="2340864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23408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+16.9%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726680" y="2340864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23408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28600" y="272491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27249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↓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971800" y="272491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27249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4.3216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617720" y="2724912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272491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0.5549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263640" y="27249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27249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-87.2%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726680" y="2724912"/>
            <a:ext cx="14630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0" y="27249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28600" y="3108960"/>
            <a:ext cx="274320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1089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 ↑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971800" y="3108960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1752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208.79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4617720" y="3108960"/>
            <a:ext cx="16459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28,421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263640" y="3108960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09360" y="3108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+135×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726680" y="3108960"/>
            <a:ext cx="146304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0" y="3108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(p&lt;0.001)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228600" y="3584448"/>
            <a:ext cx="8686800" cy="713232"/>
          </a:xfrm>
          <a:prstGeom prst="rect">
            <a:avLst/>
          </a:prstGeom>
          <a:solidFill>
            <a:srgbClr val="E0F7F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3584448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</a:t>
            </a:r>
            <a:r>
              <a:rPr lang="en-US" sz="120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+ UMAP(50) + K-Means(k=6)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vượt trội có ý nghĩa thống kê so với baseline lexical trên toàn bộ 6 chỉ số.  Wilcoxon (10 seeds):</a:t>
            </a: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 = 0.000977 &lt; 0.05 → xác nhận cải thiện thực sự.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20040" y="4389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8"/>
                </a:solidFill>
              </a:rPr>
              <a:t>Purity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1280160" y="4407408"/>
            <a:ext cx="2907792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280160" y="4407408"/>
            <a:ext cx="2218355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51960" y="44074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76.3% (Lexical)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1280160" y="4709160"/>
            <a:ext cx="2907792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280160" y="4709160"/>
            <a:ext cx="2593169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51960" y="4709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89.2% (Semantic)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cụm (tổng hợp từ FP-Max + văn bản đại diện)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43200" cy="109728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784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78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0 — Công nghệ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200" dirty="0"/>
              <a:t>891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74520" y="14356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56232" y="14356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86.1%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3558"/>
                </a:solidFill>
              </a:rPr>
              <a:t>AI, an </a:t>
            </a:r>
            <a:r>
              <a:rPr lang="en-US" sz="1200" b="1" dirty="0" err="1">
                <a:solidFill>
                  <a:srgbClr val="1A3558"/>
                </a:solidFill>
              </a:rPr>
              <a:t>ninh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mạng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dữ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liệu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số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868680"/>
            <a:ext cx="27432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9784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978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1 — Thể thao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4612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200" dirty="0"/>
              <a:t>1368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4356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4356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94.4%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3558"/>
                </a:solidFill>
              </a:rPr>
              <a:t>trận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đấu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cầu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thủ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huấn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luyện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viên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8076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868680"/>
            <a:ext cx="27432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9784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9784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2 — Du lịch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7220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100" dirty="0"/>
              <a:t>1976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14356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14356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90.1%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558"/>
                </a:solidFill>
              </a:rPr>
              <a:t>du </a:t>
            </a:r>
            <a:r>
              <a:rPr lang="en-US" sz="1200" b="1" dirty="0" err="1">
                <a:solidFill>
                  <a:srgbClr val="1A3558"/>
                </a:solidFill>
              </a:rPr>
              <a:t>khách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điểm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đến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dịch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vụ</a:t>
            </a:r>
            <a:r>
              <a:rPr lang="en-US" sz="1200" b="1" dirty="0">
                <a:solidFill>
                  <a:srgbClr val="1A3558"/>
                </a:solidFill>
              </a:rPr>
              <a:t> du </a:t>
            </a:r>
            <a:r>
              <a:rPr lang="en-US" sz="1200" b="1" dirty="0" err="1">
                <a:solidFill>
                  <a:srgbClr val="1A3558"/>
                </a:solidFill>
              </a:rPr>
              <a:t>lịch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2926080"/>
            <a:ext cx="27432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0358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035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3 — Sức khỏe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20040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200" dirty="0"/>
              <a:t>1973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874520" y="34930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6232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91.1%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3558"/>
                </a:solidFill>
              </a:rPr>
              <a:t>bệnh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nhân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điều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trị</a:t>
            </a:r>
            <a:r>
              <a:rPr lang="en-US" sz="1200" b="1" dirty="0">
                <a:solidFill>
                  <a:srgbClr val="1A3558"/>
                </a:solidFill>
              </a:rPr>
              <a:t>, </a:t>
            </a:r>
            <a:r>
              <a:rPr lang="en-US" sz="1200" b="1" dirty="0" err="1">
                <a:solidFill>
                  <a:srgbClr val="1A3558"/>
                </a:solidFill>
              </a:rPr>
              <a:t>cảnh</a:t>
            </a:r>
            <a:r>
              <a:rPr lang="en-US" sz="1200" b="1" dirty="0">
                <a:solidFill>
                  <a:srgbClr val="1A3558"/>
                </a:solidFill>
              </a:rPr>
              <a:t> </a:t>
            </a:r>
            <a:r>
              <a:rPr lang="en-US" sz="1200" b="1" dirty="0" err="1">
                <a:solidFill>
                  <a:srgbClr val="1A3558"/>
                </a:solidFill>
              </a:rPr>
              <a:t>báo</a:t>
            </a:r>
            <a:r>
              <a:rPr lang="en-US" sz="1200" b="1" dirty="0">
                <a:solidFill>
                  <a:srgbClr val="1A3558"/>
                </a:solidFill>
              </a:rPr>
              <a:t> y </a:t>
            </a:r>
            <a:r>
              <a:rPr lang="en-US" sz="1200" b="1" dirty="0" err="1">
                <a:solidFill>
                  <a:srgbClr val="1A3558"/>
                </a:solidFill>
              </a:rPr>
              <a:t>tế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004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15468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292608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30358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27832" y="3035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4 — Xe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246120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200" dirty="0"/>
              <a:t>598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00600" y="34930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72.7%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4612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 dirty="0">
                <a:solidFill>
                  <a:srgbClr val="1A35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 cộ, giao thông, phương tiện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24612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8076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0760" y="2926080"/>
            <a:ext cx="2743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3035808"/>
            <a:ext cx="2743200" cy="384048"/>
          </a:xfrm>
          <a:prstGeom prst="rect">
            <a:avLst/>
          </a:prstGeom>
          <a:solidFill>
            <a:srgbClr val="E0F7F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53912" y="303580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Cụm 5 — Giáo dục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172200" y="34930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thước: </a:t>
            </a:r>
            <a:r>
              <a:rPr lang="en-US" sz="1200" dirty="0"/>
              <a:t>1919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bài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726680" y="3493008"/>
            <a:ext cx="100584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08392" y="349300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Độ thuần: 89.1%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72200" y="3840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b="1" dirty="0">
                <a:solidFill>
                  <a:srgbClr val="1A355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trường học, học sinh, tuyển sinh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172200" y="4069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Phương pháp khai thác: FP-Max (mlxtend)  |  min_support tự động theo kích thước cụm (8–12%)  |  10 seeds kiểm định Wilcoxon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840480"/>
            <a:ext cx="2286000" cy="22860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TIẾP THEO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1148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NHỮNG GÌ ĐÃ ĐẠT ĐƯỢC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tiền xử lý NLP tiếng Việt hoàn chỉnh (PyVi, stopwords tùy chỉnh)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391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65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lexical: BM25+SVD(300) → ARI=0.53, NMI=0.59, Purity=76.3%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963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23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tốt nhất: Semantic+UMAP(50)+K-Means → ARI=0.77, Purity=89.2%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535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80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tăng 22.5× (0.027 → 0.605), DB Index giảm 87%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4107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định Wilcoxon xác nhận p=0.000977 trên 10 seeds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6791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FP-Max hỗ trợ nhận diện đặc trưng cụm cho 6 nhóm bài báo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114800" cy="365760"/>
          </a:xfrm>
          <a:prstGeom prst="rect">
            <a:avLst/>
          </a:prstGeom>
          <a:solidFill>
            <a:srgbClr val="1A3558"/>
          </a:solidFill>
          <a:ln w="12700">
            <a:solidFill>
              <a:srgbClr val="1A3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HƯỚNG TIẾP THEO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292608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50876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chỉnh khai thác mẫu và diễn giải cụm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148840"/>
            <a:ext cx="292608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210312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743200"/>
            <a:ext cx="292608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69748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rộng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nghiệm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PhoBERT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HDBSCAN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337560"/>
            <a:ext cx="292608" cy="292608"/>
          </a:xfrm>
          <a:prstGeom prst="rect">
            <a:avLst/>
          </a:prstGeom>
          <a:solidFill>
            <a:srgbClr val="1A355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291840"/>
            <a:ext cx="3611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chuyên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sâu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4617720"/>
            <a:ext cx="8686800" cy="365760"/>
          </a:xfrm>
          <a:prstGeom prst="rect">
            <a:avLst/>
          </a:prstGeom>
          <a:solidFill>
            <a:srgbClr val="1A355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+ UMAP(50) + K-Means(k=6)</a:t>
            </a: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ARI = 0.77  |  Purity = 89.2%  |  Silhouette = 0.60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1067</Words>
  <Application>Microsoft Office PowerPoint</Application>
  <PresentationFormat>On-screen Show (16:9)</PresentationFormat>
  <Paragraphs>269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Độ: Gom Cụm Văn Bản Tiếng Việt</dc:title>
  <dc:subject>PptxGenJS Presentation</dc:subject>
  <dc:creator>PptxGenJS</dc:creator>
  <cp:lastModifiedBy>Thị Kiều Anh Nguyễn</cp:lastModifiedBy>
  <cp:revision>4</cp:revision>
  <dcterms:created xsi:type="dcterms:W3CDTF">2026-04-22T03:51:07Z</dcterms:created>
  <dcterms:modified xsi:type="dcterms:W3CDTF">2026-04-22T12:35:01Z</dcterms:modified>
</cp:coreProperties>
</file>